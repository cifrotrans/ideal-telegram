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57" r:id="rId10"/>
    <p:sldId id="258" r:id="rId11"/>
    <p:sldId id="261" r:id="rId12"/>
    <p:sldId id="262" r:id="rId13"/>
    <p:sldId id="268" r:id="rId14"/>
    <p:sldId id="269" r:id="rId15"/>
    <p:sldId id="260" r:id="rId16"/>
    <p:sldId id="263" r:id="rId17"/>
    <p:sldId id="264" r:id="rId18"/>
    <p:sldId id="265" r:id="rId19"/>
    <p:sldId id="259" r:id="rId20"/>
    <p:sldId id="266" r:id="rId21"/>
    <p:sldId id="26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5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5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6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9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8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7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2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0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BC139-906A-41D2-B168-1CAA0B06A520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C18F2-6680-4506-B91B-51F5E880A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19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BF18-53BA-4B84-A2D0-9EEFF98B8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С5 С6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8F76D-C749-458B-BA13-6CED62E4DA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Сетевой анализ и картография медиапространства с помощью ИИ.</a:t>
            </a:r>
            <a:endParaRPr lang="en-US" dirty="0"/>
          </a:p>
          <a:p>
            <a:r>
              <a:rPr lang="ru-RU" dirty="0"/>
              <a:t>Применение алгоритмов искусственного интеллекта для выявления скрытых связей в социальных сетях и онлайн-СМИ. Построение графов распространения информации, определение ключевых лидеров мнений и </a:t>
            </a:r>
            <a:r>
              <a:rPr lang="ru-RU" dirty="0" err="1"/>
              <a:t>инфлюенсеров</a:t>
            </a:r>
            <a:r>
              <a:rPr lang="ru-RU" dirty="0"/>
              <a:t>. Анализ структуры аудитории и выявление изолированных сообществ («пузырей») для точного таргетирования.</a:t>
            </a:r>
          </a:p>
          <a:p>
            <a:r>
              <a:rPr lang="ru-RU" dirty="0"/>
              <a:t>Ярочкин ДА 2026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9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4B97-CA6F-4F7F-A74A-B14433A8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граф</a:t>
            </a:r>
            <a:br>
              <a:rPr lang="ru-RU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4DD4-8F89-4752-9D54-A03965AA8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88680" cy="435133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Граф</a:t>
            </a:r>
            <a:r>
              <a:rPr lang="ru-RU" dirty="0"/>
              <a:t> — это набор точек (их называют </a:t>
            </a:r>
            <a:r>
              <a:rPr lang="ru-RU" b="1" dirty="0"/>
              <a:t>вершинами</a:t>
            </a:r>
            <a:r>
              <a:rPr lang="ru-RU" dirty="0"/>
              <a:t> или </a:t>
            </a:r>
            <a:r>
              <a:rPr lang="ru-RU" b="1" dirty="0"/>
              <a:t>узлами</a:t>
            </a:r>
            <a:r>
              <a:rPr lang="ru-RU" dirty="0"/>
              <a:t>), соединённых линиями (их называют </a:t>
            </a:r>
            <a:r>
              <a:rPr lang="ru-RU" b="1" dirty="0"/>
              <a:t>рёбрами</a:t>
            </a:r>
            <a:r>
              <a:rPr lang="ru-RU" dirty="0"/>
              <a:t> или </a:t>
            </a:r>
            <a:r>
              <a:rPr lang="ru-RU" b="1" dirty="0"/>
              <a:t>связями</a:t>
            </a:r>
            <a:r>
              <a:rPr lang="ru-RU" dirty="0"/>
              <a:t>).</a:t>
            </a:r>
          </a:p>
          <a:p>
            <a:r>
              <a:rPr lang="ru-RU" dirty="0"/>
              <a:t>Простые примеры из жизни:</a:t>
            </a:r>
          </a:p>
          <a:p>
            <a:r>
              <a:rPr lang="ru-RU" b="1" dirty="0"/>
              <a:t>Схема метро</a:t>
            </a:r>
            <a:r>
              <a:rPr lang="ru-RU" dirty="0"/>
              <a:t>: станции — вершины, перегоны между ними — рёбра.</a:t>
            </a:r>
          </a:p>
          <a:p>
            <a:r>
              <a:rPr lang="ru-RU" b="1" dirty="0"/>
              <a:t>Социальная сеть</a:t>
            </a:r>
            <a:r>
              <a:rPr lang="ru-RU" dirty="0"/>
              <a:t>: люди — вершины, дружба или подписки между ними — рёбра.</a:t>
            </a:r>
          </a:p>
          <a:p>
            <a:r>
              <a:rPr lang="ru-RU" b="1" dirty="0"/>
              <a:t>Дорожная карта</a:t>
            </a:r>
            <a:r>
              <a:rPr lang="ru-RU" dirty="0"/>
              <a:t>: города — вершины, дороги между ними — рёбра.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15B3A-39F6-4FA1-AB20-D4B3D7228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135031"/>
            <a:ext cx="2609021" cy="21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2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631E-E396-4C4A-AD93-3CA17192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3166B6-AF92-465B-8EB1-89D4C6042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5067" y="1920240"/>
            <a:ext cx="5528733" cy="4572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F77309-CD29-47B2-B665-EB9583463EBF}"/>
              </a:ext>
            </a:extLst>
          </p:cNvPr>
          <p:cNvSpPr/>
          <p:nvPr/>
        </p:nvSpPr>
        <p:spPr>
          <a:xfrm>
            <a:off x="612807" y="1779687"/>
            <a:ext cx="366080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-apple-system"/>
              </a:rPr>
              <a:t>буквы (A, B, C, D, E) — вершины;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-apple-system"/>
              </a:rPr>
              <a:t>линии между ними — рёбра.</a:t>
            </a:r>
          </a:p>
          <a:p>
            <a:r>
              <a:rPr lang="ru-RU" dirty="0">
                <a:latin typeface="-apple-system"/>
              </a:rPr>
              <a:t>Графы бывают: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-apple-system"/>
              </a:rPr>
              <a:t>неориентированные</a:t>
            </a:r>
            <a:r>
              <a:rPr lang="ru-RU" dirty="0">
                <a:latin typeface="-apple-system"/>
              </a:rPr>
              <a:t> — связи работают в обе стороны (как дружба в соцсети);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-apple-system"/>
              </a:rPr>
              <a:t>ориентированные</a:t>
            </a:r>
            <a:r>
              <a:rPr lang="ru-RU" dirty="0">
                <a:latin typeface="-apple-system"/>
              </a:rPr>
              <a:t> (с направленными рёбрами) — связь идёт только в одну сторону (как подписки в соцсетях: если вы подписаны на кого‑то, это не значит, что он подписан на вас).</a:t>
            </a:r>
            <a:endParaRPr lang="ru-RU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6060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6BCF-72A7-4A6A-8A79-57B1D120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Анализ соцсетей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35D21-6FE8-4A96-86C7-6B9E88633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19914" cy="4351338"/>
          </a:xfrm>
        </p:spPr>
        <p:txBody>
          <a:bodyPr/>
          <a:lstStyle/>
          <a:p>
            <a:r>
              <a:rPr lang="ru-RU" dirty="0"/>
              <a:t>Можно построить граф, где:</a:t>
            </a:r>
          </a:p>
          <a:p>
            <a:r>
              <a:rPr lang="ru-RU" dirty="0"/>
              <a:t>вершины — пользователи, сообщества, посты</a:t>
            </a:r>
          </a:p>
          <a:p>
            <a:r>
              <a:rPr lang="ru-RU" dirty="0"/>
              <a:t>рёбра — лайки, репосты, комментарии, подписки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EA3F5-5861-4C61-A52C-9675CCA75E4F}"/>
              </a:ext>
            </a:extLst>
          </p:cNvPr>
          <p:cNvSpPr txBox="1"/>
          <p:nvPr/>
        </p:nvSpPr>
        <p:spPr>
          <a:xfrm>
            <a:off x="5890661" y="1825625"/>
            <a:ext cx="48318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найти самых влиятельных пользователей (те, у кого больше всего связей)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выделить сообщества по интересам (группы плотно связанных вершин)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отследить, как распространяется конкретный пост или мем.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8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A0D5-1291-48C1-B13D-FC63D86A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можно быстро увидеть, какие темы сейчас в тренде, кто задаёт повестку, откуда пошла та или иная новость.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E9698-4ACA-4802-ACEA-D029C95568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Вершины — это:</a:t>
            </a:r>
          </a:p>
          <a:p>
            <a:r>
              <a:rPr lang="ru-RU" dirty="0"/>
              <a:t>СМИ;</a:t>
            </a:r>
          </a:p>
          <a:p>
            <a:r>
              <a:rPr lang="ru-RU" dirty="0"/>
              <a:t>ключевые слова или темы;</a:t>
            </a:r>
          </a:p>
          <a:p>
            <a:r>
              <a:rPr lang="ru-RU" dirty="0"/>
              <a:t>отдельные новости.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A20F9-176C-4017-86AC-551460C155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Рёбра показывают:</a:t>
            </a:r>
          </a:p>
          <a:p>
            <a:r>
              <a:rPr lang="ru-RU" dirty="0"/>
              <a:t>какие СМИ пишут на одну тему;</a:t>
            </a:r>
          </a:p>
          <a:p>
            <a:r>
              <a:rPr lang="ru-RU" dirty="0"/>
              <a:t>как одна новость цитируется или пересказывается другими;</a:t>
            </a:r>
          </a:p>
          <a:p>
            <a:r>
              <a:rPr lang="ru-RU" dirty="0"/>
              <a:t>какие темы часто встречаются вместе.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03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2724-A821-4671-B58C-7DAE9A9F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Выявление фейков и ботов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C155-A64B-4EAE-A419-E5FA272290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«звёздные» структуры: один аккаунт массово рассылает сообщения сотням других;</a:t>
            </a:r>
          </a:p>
          <a:p>
            <a:r>
              <a:rPr lang="ru-RU" dirty="0"/>
              <a:t>плотные кластеры: группы аккаунтов, которые постоянно взаимодействуют только друг с другом (возможные боты);</a:t>
            </a:r>
          </a:p>
          <a:p>
            <a:r>
              <a:rPr lang="ru-RU" dirty="0"/>
              <a:t>аномально быстрые цепочки репостов (признак скоординированной кампании).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56F48-8E59-42D4-8BBF-F451E7D2A4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78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05F1-DC4B-4525-96AE-481CE2E4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Поиск ключевых тем и трендов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8AC7E-429F-48A4-88AE-7E3BA7ACF2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1456A-88CF-48D9-BC01-A6C4AF8068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автоматически выделять главные темы обсуждения;</a:t>
            </a:r>
          </a:p>
          <a:p>
            <a:r>
              <a:rPr lang="ru-RU" dirty="0"/>
              <a:t>видеть, как темы связаны между собой;</a:t>
            </a:r>
          </a:p>
          <a:p>
            <a:r>
              <a:rPr lang="ru-RU" dirty="0"/>
              <a:t>замечать появление новых трендов на ранней стадии.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39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D5F5-037F-4D9C-9ED1-F0BD851E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Визуализация сложных данных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24A7D-E2AE-41CC-9CBA-6364689199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крупные «узлы» (важные участники или темы);</a:t>
            </a:r>
          </a:p>
          <a:p>
            <a:r>
              <a:rPr lang="ru-RU" dirty="0"/>
              <a:t>изолированные группы;</a:t>
            </a:r>
          </a:p>
          <a:p>
            <a:r>
              <a:rPr lang="ru-RU" dirty="0"/>
              <a:t>мосты между разными сообществами;</a:t>
            </a:r>
          </a:p>
          <a:p>
            <a:r>
              <a:rPr lang="ru-RU" dirty="0"/>
              <a:t>направления распространения информации.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9634-8393-40AF-AD9F-CE3F7D650A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Вместо длинных таблиц и отчётов получается наглядная картинка. На ней сразу видно: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657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86BD-45D3-4A21-92E6-710F1637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парсера: Отладочная сборка и верификация </a:t>
            </a:r>
            <a:r>
              <a:rPr lang="ru-RU" dirty="0" err="1"/>
              <a:t>Big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176AC3-5435-4EB6-B00E-08052EACA5A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0" y="2435914"/>
            <a:ext cx="5914239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История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дебаггинга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(С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чем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столкнулись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решили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Проблема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Хрупкости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кода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базовых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версиях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любая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сетевая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микро-ошибка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сбой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прокси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или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капризный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закрытыми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комментариями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вызывали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критический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останов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полностью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ломая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многочасовой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сбор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данных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Решение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Переписана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логика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обработки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исключений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try / except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Оператор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заменен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continue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Теперь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скрипт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изолирует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проблемный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пост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продолжает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сбор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Проблема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Кодировок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часовых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поясов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экспорте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Excel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ломалась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кириллица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слетал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формат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временных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меток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из-за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несовместимости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стандартов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 и UTF-8.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Решение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Внедрена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принудительная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очистка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таймзон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tz_localize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(None)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и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жесткое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форматирование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столбцов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в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структуре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графа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Source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Новые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аналитические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функции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добавлено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код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Сквозной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контроль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полноты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res['count']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запрашивает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 API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ВКонтакте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мета-счетчик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реального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количества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комментариев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сравнивает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объемом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фактически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скачанных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строк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Интерактивное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логирование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Детализированный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Вывод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консоль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режиме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реального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времени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показывает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текущее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смещение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offset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номер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обрабатываемого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поста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статус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прохождения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вложенных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веток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обсуждений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thread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5F7142-0CDD-45C2-9EE6-B68CC3A521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79536"/>
            <a:ext cx="5181600" cy="224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4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7643-F0D5-4B55-81A1-1B5C62DE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89B5CC-4541-4414-ADAF-FF2DCACF09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3308" y="1926030"/>
            <a:ext cx="5181600" cy="181838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03526-1F6C-40B9-A02C-A09C8E4809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Результат работы кода – таблица </a:t>
            </a:r>
          </a:p>
          <a:p>
            <a:r>
              <a:rPr lang="ru-RU" dirty="0"/>
              <a:t>Поле лайков пустое </a:t>
            </a:r>
            <a:r>
              <a:rPr lang="ru-RU" dirty="0" err="1"/>
              <a:t>тк</a:t>
            </a:r>
            <a:r>
              <a:rPr lang="ru-RU" dirty="0"/>
              <a:t> наш токен не позволяет собирать такую информацию но поле мы оставляем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823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002DE-E862-48EB-AD29-6DD203A1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CA8DC1-ACD4-460E-8616-596BEBA44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257" y="1825625"/>
            <a:ext cx="91834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60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D907-D4FC-4F2D-A5FB-DF80FB7A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FB0D1C-6489-450A-8457-21D24E485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825625"/>
            <a:ext cx="8141627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B30547-8DC9-4F52-99CB-B4D56C338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87" y="2846773"/>
            <a:ext cx="6412213" cy="401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84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90F2-7B79-48DF-B53A-FA3B3E95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Исправляем ошибку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7F80C-707F-4ADD-81CD-7C462653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&gt;  merge strategy</a:t>
            </a:r>
          </a:p>
          <a:p>
            <a:r>
              <a:rPr lang="en-US" dirty="0"/>
              <a:t>sum (</a:t>
            </a:r>
            <a:r>
              <a:rPr lang="ru-RU" dirty="0"/>
              <a:t>создает веса</a:t>
            </a:r>
            <a:r>
              <a:rPr lang="en-US" dirty="0"/>
              <a:t>)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0E4601-C119-4144-AE07-C25549CC9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69" y="1931503"/>
            <a:ext cx="603885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23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D783-99FC-4AB9-902E-658F47F8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9636-418A-47F2-9066-CCE32A280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++ labels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++ interval </a:t>
            </a:r>
          </a:p>
          <a:p>
            <a:r>
              <a:rPr lang="en-US" dirty="0"/>
              <a:t>Export csv </a:t>
            </a:r>
          </a:p>
          <a:p>
            <a:pPr lvl="1"/>
            <a:r>
              <a:rPr lang="ru-RU" dirty="0"/>
              <a:t>Открываем </a:t>
            </a:r>
            <a:r>
              <a:rPr lang="en-US" dirty="0"/>
              <a:t> </a:t>
            </a:r>
            <a:r>
              <a:rPr lang="en-US" dirty="0" err="1"/>
              <a:t>exel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Import data</a:t>
            </a:r>
          </a:p>
          <a:p>
            <a:pPr lvl="2"/>
            <a:r>
              <a:rPr lang="en-US" dirty="0"/>
              <a:t>++ Interval </a:t>
            </a:r>
            <a:r>
              <a:rPr lang="ru-RU" dirty="0"/>
              <a:t>ФОРМУЛА: </a:t>
            </a:r>
            <a:endParaRPr lang="en-US" dirty="0"/>
          </a:p>
          <a:p>
            <a:pPr marL="914400" lvl="2" indent="0">
              <a:buNone/>
            </a:pPr>
            <a:r>
              <a:rPr lang="fr-FR" dirty="0"/>
              <a:t>        ="[" &amp; SUBSTITUTE(TEXT(K2, "</a:t>
            </a:r>
            <a:r>
              <a:rPr lang="fr-FR" dirty="0" err="1"/>
              <a:t>yyyy</a:t>
            </a:r>
            <a:r>
              <a:rPr lang="fr-FR" dirty="0"/>
              <a:t>-mm-dd </a:t>
            </a:r>
            <a:r>
              <a:rPr lang="fr-FR" dirty="0" err="1"/>
              <a:t>hh:mm:ss</a:t>
            </a:r>
            <a:r>
              <a:rPr lang="fr-FR" dirty="0"/>
              <a:t>"), " ", "T") &amp; ", 2026-05-21T23:59:59]"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CD8EF-D072-404A-BBF6-128E8F5B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84" y="1956822"/>
            <a:ext cx="1057423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11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68AA-A42F-43B3-9610-C629CB90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F7A68-DDEE-48B0-8E8D-6A6197528F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B91D7-D73B-4A24-8F4C-9BD34584A5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706753"/>
            <a:ext cx="5181600" cy="251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59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E388-4847-49CD-8644-9B2B069F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36794-CB4B-4193-BE66-F823AC994A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7D394D-F1F6-4721-94B6-57EDE101C9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3215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5D52EC-C1BF-4D85-99FD-AD8D682E0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918897" cy="286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543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3E44-96D6-4346-B5EC-443D295C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84FDC9-76A1-4DB6-95EC-56E49B2E91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3100" y="1825625"/>
            <a:ext cx="5181600" cy="353374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16F427-EDC7-4CE5-BD41-97D0966DE5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970141"/>
            <a:ext cx="5181600" cy="251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24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01A0-7446-434C-9955-52046DDF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175526-001E-4119-8A85-2FCCC2237F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400" y="1825625"/>
            <a:ext cx="5181600" cy="351608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423044-3AF6-4D56-BFE0-635FB84B78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181600" cy="363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77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C15-E1E8-417C-A1B1-92B99033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8F32B-1AE6-4FA9-ADF7-54AE75E0F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941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4BEA62-3A9A-4175-AF99-6417EA4838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0" y="1914793"/>
            <a:ext cx="6781800" cy="410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5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9C1B-6763-478B-BCEE-44D6617C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A77E2-8BD3-4CD2-BCC0-DF620E7C29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b="1" dirty="0"/>
              <a:t>. Выявление скрытых связей и топология дискуссии</a:t>
            </a:r>
          </a:p>
          <a:p>
            <a:r>
              <a:rPr lang="ru-RU" b="1" dirty="0"/>
              <a:t>Вывод:</a:t>
            </a:r>
            <a:r>
              <a:rPr lang="ru-RU" dirty="0"/>
              <a:t> Структура </a:t>
            </a:r>
            <a:r>
              <a:rPr lang="ru-RU" dirty="0" err="1"/>
              <a:t>паблика</a:t>
            </a:r>
            <a:r>
              <a:rPr lang="ru-RU" dirty="0"/>
              <a:t> «Отчислено по философским соображениям» неоднородна. Мы видим классическое разделение на </a:t>
            </a:r>
            <a:r>
              <a:rPr lang="ru-RU" b="1" dirty="0"/>
              <a:t>«коммуникативное ядро»</a:t>
            </a:r>
            <a:r>
              <a:rPr lang="ru-RU" dirty="0"/>
              <a:t> (социальный капитал </a:t>
            </a:r>
            <a:r>
              <a:rPr lang="ru-RU" dirty="0" err="1"/>
              <a:t>паблика</a:t>
            </a:r>
            <a:r>
              <a:rPr lang="ru-RU" dirty="0"/>
              <a:t>) и </a:t>
            </a:r>
            <a:r>
              <a:rPr lang="ru-RU" b="1" dirty="0"/>
              <a:t>«периферию»</a:t>
            </a:r>
            <a:r>
              <a:rPr lang="ru-RU" dirty="0"/>
              <a:t>.</a:t>
            </a:r>
          </a:p>
          <a:p>
            <a:r>
              <a:rPr lang="ru-RU" b="1" dirty="0"/>
              <a:t>Детали:</a:t>
            </a:r>
            <a:r>
              <a:rPr lang="ru-RU" dirty="0"/>
              <a:t> Центральное сгущение показывает, что в сообществе есть устойчивая группа пользователей, готовых вовлекаться в сложные, многоуровневые дискуссии. Связи здесь носят характер «многие ко многим» (все спорят со всеми), что превращает паблик из простого транслятора контента в полноценное цифровое дискуссионное пространство.</a:t>
            </a:r>
          </a:p>
          <a:p>
            <a:r>
              <a:rPr lang="ru-RU" b="1" dirty="0"/>
              <a:t>2. Определение лидеров мнений (</a:t>
            </a:r>
            <a:r>
              <a:rPr lang="ru-RU" b="1" dirty="0" err="1"/>
              <a:t>Хабов</a:t>
            </a:r>
            <a:r>
              <a:rPr lang="ru-RU" b="1" dirty="0"/>
              <a:t>)</a:t>
            </a:r>
          </a:p>
          <a:p>
            <a:r>
              <a:rPr lang="ru-RU" b="1" dirty="0"/>
              <a:t>Вывод:</a:t>
            </a:r>
            <a:r>
              <a:rPr lang="ru-RU" dirty="0"/>
              <a:t> Распространение информации в группе держится на единичных мощных триггерах — «</a:t>
            </a:r>
            <a:r>
              <a:rPr lang="ru-RU" dirty="0" err="1"/>
              <a:t>инфлюенсерах</a:t>
            </a:r>
            <a:r>
              <a:rPr lang="ru-RU" dirty="0"/>
              <a:t>-катализаторах».</a:t>
            </a:r>
          </a:p>
          <a:p>
            <a:r>
              <a:rPr lang="ru-RU" b="1" dirty="0"/>
              <a:t>Детали:</a:t>
            </a:r>
            <a:r>
              <a:rPr lang="ru-RU" dirty="0"/>
              <a:t> Тот самый узел в центре вспышки (пользователь с постом о «Судном дне, Библии и виртуальном мире») выступает в роли </a:t>
            </a:r>
            <a:r>
              <a:rPr lang="ru-RU" b="1" dirty="0"/>
              <a:t>главного смыслового </a:t>
            </a:r>
            <a:r>
              <a:rPr lang="ru-RU" b="1" dirty="0" err="1"/>
              <a:t>хаба</a:t>
            </a:r>
            <a:r>
              <a:rPr lang="ru-RU" dirty="0"/>
              <a:t>. Он не просто транслирует повестку, он аккумулирует вокруг себя внимание аудитории, заставляя людей тратить когнитивный ресурс на генерацию огромных ответных текстов. В терминах пиара — это идеальная фигура для «посева» сложных идей.</a:t>
            </a:r>
          </a:p>
          <a:p>
            <a:r>
              <a:rPr lang="ru-RU" b="1" dirty="0"/>
              <a:t>3. Структура аудитории и «пузыри фильтров» (Эхо-камеры)</a:t>
            </a:r>
          </a:p>
          <a:p>
            <a:r>
              <a:rPr lang="ru-RU" b="1" dirty="0"/>
              <a:t>Вывод:</a:t>
            </a:r>
            <a:r>
              <a:rPr lang="ru-RU" dirty="0"/>
              <a:t> Даже внутри одного интеллектуального </a:t>
            </a:r>
            <a:r>
              <a:rPr lang="ru-RU" dirty="0" err="1"/>
              <a:t>паблика</a:t>
            </a:r>
            <a:r>
              <a:rPr lang="ru-RU" dirty="0"/>
              <a:t> аудитория мгновенно сегментируется на изолированные информационные пузыри.</a:t>
            </a:r>
          </a:p>
          <a:p>
            <a:r>
              <a:rPr lang="ru-RU" b="1" dirty="0"/>
              <a:t>Детали:</a:t>
            </a:r>
            <a:r>
              <a:rPr lang="ru-RU" dirty="0"/>
              <a:t> Вытянутые в линии цепочки и изолированные островки на периферии — это </a:t>
            </a:r>
            <a:r>
              <a:rPr lang="ru-RU" b="1" dirty="0"/>
              <a:t>микро-пузыри</a:t>
            </a:r>
            <a:r>
              <a:rPr lang="ru-RU" dirty="0"/>
              <a:t>. Люди в них зашли прокомментировать один конкретный инфоповод, полностью проигнорировав глобальный теологический или философский спор в центре. Они находятся в ментальной изоляции от ядра группы.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14941-3294-4F59-82EA-69618C5E31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b="1" dirty="0"/>
              <a:t>Практические решения на основе графа </a:t>
            </a:r>
          </a:p>
          <a:p>
            <a:r>
              <a:rPr lang="ru-RU" b="1" dirty="0"/>
              <a:t>Монетизация и </a:t>
            </a:r>
            <a:r>
              <a:rPr lang="ru-RU" b="1" dirty="0" err="1"/>
              <a:t>таргет</a:t>
            </a:r>
            <a:r>
              <a:rPr lang="ru-RU" b="1" dirty="0"/>
              <a:t>:</a:t>
            </a:r>
            <a:r>
              <a:rPr lang="ru-RU" dirty="0"/>
              <a:t> Хирургический экспорт ID по цветным кластерам. Раздельные рекламные </a:t>
            </a:r>
            <a:r>
              <a:rPr lang="ru-RU" dirty="0" err="1"/>
              <a:t>офферы</a:t>
            </a:r>
            <a:r>
              <a:rPr lang="ru-RU" dirty="0"/>
              <a:t> для «ядра» (глубокие курсы) и «периферии» (поп-лекции) вместо слива бюджета на общую массу.</a:t>
            </a:r>
          </a:p>
          <a:p>
            <a:r>
              <a:rPr lang="ru-RU" b="1" dirty="0"/>
              <a:t>Институционализация ядра:</a:t>
            </a:r>
            <a:r>
              <a:rPr lang="ru-RU" dirty="0"/>
              <a:t> Перевод авторов из центрального сгущения в статус соавторов (сбор </a:t>
            </a:r>
            <a:r>
              <a:rPr lang="ru-RU" dirty="0" err="1"/>
              <a:t>лонгридов</a:t>
            </a:r>
            <a:r>
              <a:rPr lang="ru-RU" dirty="0"/>
              <a:t> из </a:t>
            </a:r>
            <a:r>
              <a:rPr lang="ru-RU" dirty="0" err="1"/>
              <a:t>комментов</a:t>
            </a:r>
            <a:r>
              <a:rPr lang="ru-RU" dirty="0"/>
              <a:t>, закрытые экспертные клубы, амбассадоры проекта).</a:t>
            </a:r>
          </a:p>
          <a:p>
            <a:r>
              <a:rPr lang="ru-RU" b="1" dirty="0"/>
              <a:t>Управляемый взрыв:</a:t>
            </a:r>
            <a:r>
              <a:rPr lang="ru-RU" dirty="0"/>
              <a:t> Направленный «посев» сложных инфоповодов напрямую через выявленные смысловые </a:t>
            </a:r>
            <a:r>
              <a:rPr lang="ru-RU" dirty="0" err="1"/>
              <a:t>Хабы</a:t>
            </a:r>
            <a:r>
              <a:rPr lang="ru-RU" dirty="0"/>
              <a:t> (лидеров мнений) для запуска цепной реакции.</a:t>
            </a:r>
          </a:p>
          <a:p>
            <a:r>
              <a:rPr lang="ru-RU" b="1" dirty="0"/>
              <a:t>Разрушение пузырей:</a:t>
            </a:r>
            <a:r>
              <a:rPr lang="ru-RU" dirty="0"/>
              <a:t> Проектирование постов-гибридов на стыке тем (например, «ИИ и теология») для связывания изолированных периферийных лучей с ядром сети.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021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0767-304C-4680-8E92-F1DE4D85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808E3-F92E-40FE-969C-4226EF29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Технологическая гибкость</a:t>
            </a:r>
          </a:p>
          <a:p>
            <a:r>
              <a:rPr lang="ru-RU" dirty="0"/>
              <a:t>Независимость</a:t>
            </a:r>
          </a:p>
          <a:p>
            <a:r>
              <a:rPr lang="ru-RU" dirty="0"/>
              <a:t>Критичность</a:t>
            </a:r>
          </a:p>
          <a:p>
            <a:r>
              <a:rPr lang="ru-RU" dirty="0"/>
              <a:t> нестандартные выводы =</a:t>
            </a:r>
            <a:r>
              <a:rPr lang="en-US" dirty="0"/>
              <a:t>&gt; </a:t>
            </a:r>
            <a:r>
              <a:rPr lang="ru-RU" dirty="0"/>
              <a:t>конкурентное преимущество</a:t>
            </a:r>
          </a:p>
          <a:p>
            <a:r>
              <a:rPr lang="ru-RU" dirty="0"/>
              <a:t>Больше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8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692</TotalTime>
  <Words>1071</Words>
  <Application>Microsoft Office PowerPoint</Application>
  <PresentationFormat>Widescreen</PresentationFormat>
  <Paragraphs>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-apple-system</vt:lpstr>
      <vt:lpstr>Arial</vt:lpstr>
      <vt:lpstr>Arial Unicode MS</vt:lpstr>
      <vt:lpstr>Calibri</vt:lpstr>
      <vt:lpstr>Calibri Light</vt:lpstr>
      <vt:lpstr>Office Theme</vt:lpstr>
      <vt:lpstr>С5 С6</vt:lpstr>
      <vt:lpstr>Что такое граф </vt:lpstr>
      <vt:lpstr>PowerPoint Presentation</vt:lpstr>
      <vt:lpstr>Анализ соцсетей </vt:lpstr>
      <vt:lpstr>можно быстро увидеть, какие темы сейчас в тренде, кто задаёт повестку, откуда пошла та или иная новость.</vt:lpstr>
      <vt:lpstr>Выявление фейков и ботов </vt:lpstr>
      <vt:lpstr>Поиск ключевых тем и трендов </vt:lpstr>
      <vt:lpstr>Визуализация сложных данных </vt:lpstr>
      <vt:lpstr>Эволюция парсера: Отладочная сборка и верификация Big Data</vt:lpstr>
      <vt:lpstr>PowerPoint Presentation</vt:lpstr>
      <vt:lpstr>PowerPoint Presentation</vt:lpstr>
      <vt:lpstr>PowerPoint Presentation</vt:lpstr>
      <vt:lpstr>Исправляем ошибку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зачем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С5 С6</dc:title>
  <dc:creator>yarochkin dmitry</dc:creator>
  <cp:lastModifiedBy>yarochkin dmitry</cp:lastModifiedBy>
  <cp:revision>3</cp:revision>
  <dcterms:created xsi:type="dcterms:W3CDTF">2026-05-20T19:31:55Z</dcterms:created>
  <dcterms:modified xsi:type="dcterms:W3CDTF">2026-05-21T21:28:39Z</dcterms:modified>
</cp:coreProperties>
</file>